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32918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C5B68"/>
                </a:solidFill>
              </a:defRPr>
            </a:pPr>
            <a:r>
              <a:t>INTEIA | Pesquisa Eleitoral 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2A2D26"/>
                </a:solidFill>
              </a:rPr>
              <a:t>Celina Leao 2024-2025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1488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C5B68"/>
                </a:solidFill>
              </a:defRPr>
            </a:pPr>
            <a:r>
              <a:t>Evolucao de campanha, impacto de publicidade e consolidacao de marca (DF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C5B68"/>
                </a:solidFill>
              </a:defRPr>
            </a:pPr>
            <a:r>
              <a:t>Periodo analisado: Jul/2024 a Dez/2025 | Atualizado: Jan/2026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2A2D26"/>
                </a:solidFill>
              </a:rPr>
              <a:t>Pergunta e hipotese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C5B68"/>
                </a:solidFill>
              </a:defRPr>
            </a:pPr>
            <a:r>
              <a:t>Pergunta: houve mudanca estrutural na intencao de voto apos o inicio de investimento em comunicacao (Jan/2025)?</a:t>
            </a:r>
          </a:p>
          <a:p>
            <a:pPr>
              <a:defRPr sz="2000">
                <a:solidFill>
                  <a:srgbClr val="6C5B68"/>
                </a:solidFill>
              </a:defRPr>
            </a:pPr>
            <a:r>
              <a:t>Hipotese operacional: aumento de presenca + publicidade + agenda de entregas eleva conhecimento e preferencia.</a:t>
            </a:r>
          </a:p>
          <a:p>
            <a:pPr>
              <a:defRPr sz="2000">
                <a:solidFill>
                  <a:srgbClr val="6C5B68"/>
                </a:solidFill>
              </a:defRPr>
            </a:pPr>
            <a:r>
              <a:t>Cuidado: pesquisas sao de institutos/cenarios diferentes; a leitura e de sinal agregado (nao causal estrita).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2A2D26"/>
                </a:solidFill>
              </a:rPr>
              <a:t>Base e metodo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C5B68"/>
                </a:solidFill>
              </a:defRPr>
            </a:pPr>
            <a:r>
              <a:t>Fonte: 18 registros (Jul/2024 a Dez/2025) em 4 institutos.</a:t>
            </a:r>
          </a:p>
          <a:p>
            <a:pPr>
              <a:defRPr sz="2000">
                <a:solidFill>
                  <a:srgbClr val="6C5B68"/>
                </a:solidFill>
              </a:defRPr>
            </a:pPr>
            <a:r>
              <a:t>Cortes: pre-MKT (&lt; 01/01/2025) vs pos-MKT (&gt;= 01/01/2025).</a:t>
            </a:r>
          </a:p>
          <a:p>
            <a:pPr>
              <a:defRPr sz="2000">
                <a:solidFill>
                  <a:srgbClr val="6C5B68"/>
                </a:solidFill>
              </a:defRPr>
            </a:pPr>
            <a:r>
              <a:t>Eixo principal de tendencia: cenario 1 (quando disponivel) para serie temporal.</a:t>
            </a:r>
          </a:p>
          <a:p>
            <a:pPr>
              <a:defRPr sz="2000">
                <a:solidFill>
                  <a:srgbClr val="6C5B68"/>
                </a:solidFill>
              </a:defRPr>
            </a:pPr>
            <a:r>
              <a:t>Medidas: medias, dispersao, efeito (Cohen's d), comparativos por instituto e cenario.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2A2D26"/>
                </a:solidFill>
              </a:rPr>
              <a:t>Resultados-chave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00200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2A2D26"/>
                </a:solidFill>
              </a:defRPr>
            </a:pPr>
            <a:r>
              <a:t>38.4%</a:t>
            </a:r>
          </a:p>
          <a:p>
            <a:pPr>
              <a:defRPr sz="1200">
                <a:solidFill>
                  <a:srgbClr val="6C5B68"/>
                </a:solidFill>
              </a:defRPr>
            </a:pPr>
            <a:r>
              <a:t>Media geral (todas as pesquisas)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600200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2A2D26"/>
                </a:solidFill>
              </a:defRPr>
            </a:pPr>
            <a:r>
              <a:t>+13.9 p.p.</a:t>
            </a:r>
          </a:p>
          <a:p>
            <a:pPr>
              <a:defRPr sz="1200">
                <a:solidFill>
                  <a:srgbClr val="6C5B68"/>
                </a:solidFill>
              </a:defRPr>
            </a:pPr>
            <a:r>
              <a:t>Lift medio apos inicio do MKT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600200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2A2D26"/>
                </a:solidFill>
              </a:defRPr>
            </a:pPr>
            <a:r>
              <a:t>54%</a:t>
            </a:r>
          </a:p>
          <a:p>
            <a:pPr>
              <a:defRPr sz="1200">
                <a:solidFill>
                  <a:srgbClr val="6C5B68"/>
                </a:solidFill>
              </a:defRPr>
            </a:pPr>
            <a:r>
              <a:t>Pico observado (Sep/2025)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2A2D26"/>
                </a:solidFill>
              </a:defRPr>
            </a:pPr>
            <a:r>
              <a:t>22%</a:t>
            </a:r>
          </a:p>
          <a:p>
            <a:pPr>
              <a:defRPr sz="1200">
                <a:solidFill>
                  <a:srgbClr val="6C5B68"/>
                </a:solidFill>
              </a:defRPr>
            </a:pPr>
            <a:r>
              <a:t>Minimo observado (Jul/2024)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246120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2A2D26"/>
                </a:solidFill>
              </a:defRPr>
            </a:pPr>
            <a:r>
              <a:t>18</a:t>
            </a:r>
          </a:p>
          <a:p>
            <a:pPr>
              <a:defRPr sz="1200">
                <a:solidFill>
                  <a:srgbClr val="6C5B68"/>
                </a:solidFill>
              </a:defRPr>
            </a:pPr>
            <a:r>
              <a:t>Registros no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3246120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2A2D26"/>
                </a:solidFill>
              </a:defRPr>
            </a:pPr>
            <a:r>
              <a:t>4</a:t>
            </a:r>
          </a:p>
          <a:p>
            <a:pPr>
              <a:defRPr sz="1200">
                <a:solidFill>
                  <a:srgbClr val="6C5B68"/>
                </a:solidFill>
              </a:defRPr>
            </a:pPr>
            <a:r>
              <a:t>Institutos (Parana, RTBD, Opiniao, Colectta)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C5B68"/>
                </a:solidFill>
              </a:defRPr>
            </a:pPr>
            <a:r>
              <a:t>Efeito estimado (Cohen's d): 1.80 | A leitura e correlacional: marketing + entregas + eventos politicos.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A2D26"/>
                </a:solidFill>
              </a:rPr>
              <a:t>Evolucao da intencao de voto</a:t>
            </a:r>
          </a:p>
        </p:txBody>
      </p:sp>
      <p:pic>
        <p:nvPicPr>
          <p:cNvPr id="3" name="Picture 2" descr="01_evolucao_cla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722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5B68"/>
                </a:solidFill>
              </a:defRPr>
            </a:pPr>
            <a:r>
              <a:t>Serie temporal (cenario 1). Faixa sombreada: periodo apos inicio do MKT (Jan/2025).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A2D26"/>
                </a:solidFill>
              </a:rPr>
              <a:t>Impacto: antes vs depois</a:t>
            </a:r>
          </a:p>
        </p:txBody>
      </p:sp>
      <p:pic>
        <p:nvPicPr>
          <p:cNvPr id="3" name="Picture 2" descr="02_pre_pos_cla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722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5B68"/>
                </a:solidFill>
              </a:defRPr>
            </a:pPr>
            <a:r>
              <a:t>Comparacao de medias com barras de dispersao (desvio-padrao).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A2D26"/>
                </a:solidFill>
              </a:rPr>
              <a:t>Mudanca de tendencia</a:t>
            </a:r>
          </a:p>
        </p:txBody>
      </p:sp>
      <p:pic>
        <p:nvPicPr>
          <p:cNvPr id="3" name="Picture 2" descr="03_tendencia_quebra_cla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722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5B68"/>
                </a:solidFill>
              </a:defRPr>
            </a:pPr>
            <a:r>
              <a:t>Regressoes separadas sugerem inclinacao maior apos Jan/2025 (sinal de aceleracao).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A2D26"/>
                </a:solidFill>
              </a:rPr>
              <a:t>Consistencia por instituto</a:t>
            </a:r>
          </a:p>
        </p:txBody>
      </p:sp>
      <p:pic>
        <p:nvPicPr>
          <p:cNvPr id="3" name="Picture 2" descr="04_institutos_cla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722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5B68"/>
                </a:solidFill>
              </a:defRPr>
            </a:pPr>
            <a:r>
              <a:t>Ultima medicao de cada instituto (nao sao datas identicas; use como triangulacao).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A2D26"/>
                </a:solidFill>
              </a:rPr>
              <a:t>Cenario competitivo</a:t>
            </a:r>
          </a:p>
        </p:txBody>
      </p:sp>
      <p:pic>
        <p:nvPicPr>
          <p:cNvPr id="3" name="Picture 2" descr="05_competicao_cla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722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5B68"/>
                </a:solidFill>
              </a:defRPr>
            </a:pPr>
            <a:r>
              <a:t>Snapshot da ultima divulgacao do dataset (cenarios variam conforme instituto).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A2D26"/>
                </a:solidFill>
              </a:rPr>
              <a:t>Marcos e eventos</a:t>
            </a:r>
          </a:p>
        </p:txBody>
      </p:sp>
      <p:pic>
        <p:nvPicPr>
          <p:cNvPr id="3" name="Picture 2" descr="06_timeline_cla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722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5B68"/>
                </a:solidFill>
              </a:defRPr>
            </a:pPr>
            <a:r>
              <a:t>Eventos de alto impacto (positivo/negativo) alinhados a pontos de pesquisa.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A2D26"/>
                </a:solidFill>
              </a:rPr>
              <a:t>Volatilidade (waterfall)</a:t>
            </a:r>
          </a:p>
        </p:txBody>
      </p:sp>
      <p:pic>
        <p:nvPicPr>
          <p:cNvPr id="3" name="Picture 2" descr="07_waterfall_cla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722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5B68"/>
                </a:solidFill>
              </a:defRPr>
            </a:pPr>
            <a:r>
              <a:t>Decomposicao da variacao entre pesquisas (cenario 1). Ajuda a ver saltos e recuos.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A2D26"/>
                </a:solidFill>
              </a:rPr>
              <a:t>Dispersao por instituto</a:t>
            </a:r>
          </a:p>
        </p:txBody>
      </p:sp>
      <p:pic>
        <p:nvPicPr>
          <p:cNvPr id="3" name="Picture 2" descr="08_boxplot_institutos_cla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722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5B68"/>
                </a:solidFill>
              </a:defRPr>
            </a:pPr>
            <a:r>
              <a:t>Boxplot com distribuicao de valores por instituto (tamanho de amostra varia).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2A2D26"/>
                </a:solidFill>
              </a:rPr>
              <a:t>Leituras sobre publicidade e marca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C5B68"/>
                </a:solidFill>
              </a:defRPr>
            </a:pPr>
            <a:r>
              <a:t>Marketing atua como multiplicador: aumenta lembranca, melhora consistencia da narrativa e estabiliza preferencia.</a:t>
            </a:r>
          </a:p>
          <a:p>
            <a:pPr>
              <a:defRPr sz="2000">
                <a:solidFill>
                  <a:srgbClr val="6C5B68"/>
                </a:solidFill>
              </a:defRPr>
            </a:pPr>
            <a:r>
              <a:t>Apos Jan/2025, a media sobe e o teto observado aumenta (pico em Set/2025).</a:t>
            </a:r>
          </a:p>
          <a:p>
            <a:pPr>
              <a:defRPr sz="2000">
                <a:solidFill>
                  <a:srgbClr val="6C5B68"/>
                </a:solidFill>
              </a:defRPr>
            </a:pPr>
            <a:r>
              <a:t>Marcos politicos/juridicos (ex.: absolvicacao, FCDF) funcionam como gatilhos de validacao.</a:t>
            </a:r>
          </a:p>
          <a:p>
            <a:pPr>
              <a:defRPr sz="2000">
                <a:solidFill>
                  <a:srgbClr val="6C5B68"/>
                </a:solidFill>
              </a:defRPr>
            </a:pPr>
            <a:r>
              <a:t>Risco: ruido de cenarios e entrada/saida de nomes (ex.: Fred, Arruda) desloca percentuais.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2A2D26"/>
                </a:solidFill>
              </a:rPr>
              <a:t>Conclusoes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C5B68"/>
                </a:solidFill>
              </a:defRPr>
            </a:pPr>
            <a:r>
              <a:t>Hipotese confirmada no agregado: lift medio de +13.9 p.p. apos Jan/2025.</a:t>
            </a:r>
          </a:p>
          <a:p>
            <a:pPr>
              <a:defRPr sz="2000">
                <a:solidFill>
                  <a:srgbClr val="6C5B68"/>
                </a:solidFill>
              </a:defRPr>
            </a:pPr>
            <a:r>
              <a:t>Nao e prova causal, mas o conjunto (agenda + comunicacao + eventos) e compativel com crescimento de marca.</a:t>
            </a:r>
          </a:p>
          <a:p>
            <a:pPr>
              <a:defRPr sz="2000">
                <a:solidFill>
                  <a:srgbClr val="6C5B68"/>
                </a:solidFill>
              </a:defRPr>
            </a:pPr>
            <a:r>
              <a:t>A estrategia vencedora combina: entregas comunicaveis + ocupacao de agenda + gestao de risco juridico.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2A2D26"/>
                </a:solidFill>
              </a:rPr>
              <a:t>Recomendacoes (2026)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C5B68"/>
                </a:solidFill>
              </a:defRPr>
            </a:pPr>
            <a:r>
              <a:t>Manter investimento em comunicacao e cadencia de conteudo (press + digital) com mensagens simples e repetiveis.</a:t>
            </a:r>
          </a:p>
          <a:p>
            <a:pPr>
              <a:defRPr sz="2000">
                <a:solidFill>
                  <a:srgbClr val="6C5B68"/>
                </a:solidFill>
              </a:defRPr>
            </a:pPr>
            <a:r>
              <a:t>Tratar variacao por cenario: produzir tracking proprio (mesma pergunta / mesma amostra ao longo do tempo).</a:t>
            </a:r>
          </a:p>
          <a:p>
            <a:pPr>
              <a:defRPr sz="2000">
                <a:solidFill>
                  <a:srgbClr val="6C5B68"/>
                </a:solidFill>
              </a:defRPr>
            </a:pPr>
            <a:r>
              <a:t>Criar metricas de marca (share of voice, sentimento, busca) para ligar midia -&gt; preferencia com mais precisao.</a:t>
            </a:r>
          </a:p>
          <a:p>
            <a:pPr>
              <a:defRPr sz="2000">
                <a:solidFill>
                  <a:srgbClr val="6C5B68"/>
                </a:solidFill>
              </a:defRPr>
            </a:pPr>
            <a:r>
              <a:t>Planejar resposta rapida a riscos juridicos e ataques (janela critica de definicao de candidatura).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